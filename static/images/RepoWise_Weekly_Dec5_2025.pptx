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b038b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1254" y="1351657"/>
            <a:ext cx="210234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1200"/>
              </a:spcAft>
              <a:buNone/>
            </a:pPr>
            <a:r>
              <a:rPr lang="en-US" sz="39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RepoWise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2766573" y="2151757"/>
            <a:ext cx="399170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Aft>
                <a:spcPts val="240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Confidence System &amp; UI Overhaul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334643" y="3116610"/>
            <a:ext cx="762000" cy="1905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8208" y="3116610"/>
            <a:ext cx="762000" cy="19050"/>
          </a:xfrm>
          <a:prstGeom prst="rect">
            <a:avLst/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157862" y="3807172"/>
            <a:ext cx="12092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Sankalp Kashyap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57862" y="4031903"/>
            <a:ext cx="12092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DECAL Lab • UC Davis</a:t>
            </a:r>
            <a:endParaRPr lang="en-US" sz="900" dirty="0"/>
          </a:p>
        </p:txBody>
      </p:sp>
      <p:pic>
        <p:nvPicPr>
          <p:cNvPr id="9" name="Image 1" descr="/tmp/rasterized-gradient-f050e06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56544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Old Confidence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1376660"/>
            <a:ext cx="3185071" cy="767507"/>
          </a:xfrm>
          <a:prstGeom prst="roundRect">
            <a:avLst>
              <a:gd name="adj" fmla="val 99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376660"/>
            <a:ext cx="0" cy="767507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529060"/>
            <a:ext cx="28990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ALGORITHM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71500" y="1751856"/>
            <a:ext cx="28990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= max(scores)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2258467"/>
            <a:ext cx="3185071" cy="1110258"/>
          </a:xfrm>
          <a:prstGeom prst="roundRect">
            <a:avLst>
              <a:gd name="adj" fmla="val 68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2391817"/>
            <a:ext cx="29767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FAILURE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14350" y="2614613"/>
            <a:ext cx="29767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chunks: [0.6, 0.6, 0.6]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14350" y="2825948"/>
            <a:ext cx="29767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0.6 ❌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14350" y="3075384"/>
            <a:ext cx="29767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evidence = same confidence?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483025"/>
            <a:ext cx="3185071" cy="969466"/>
          </a:xfrm>
          <a:prstGeom prst="roundRect">
            <a:avLst>
              <a:gd name="adj" fmla="val 786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350" y="3616375"/>
            <a:ext cx="29767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14350" y="3820120"/>
            <a:ext cx="297673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4350" y="4159151"/>
            <a:ext cx="297673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Confidence-Correctness Correlation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94671" y="150405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55988" y="148500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37571" y="1504057"/>
            <a:ext cx="44650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Penalty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137571" y="1742182"/>
            <a:ext cx="44650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Multi-page docs got same score as single-chunk docs. Better coverage was penalized.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94671" y="199742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55988" y="197837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37571" y="1997422"/>
            <a:ext cx="38664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Content Validation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4137571" y="2235547"/>
            <a:ext cx="38664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answers scored same as specific ones with URLs, versions, quotes.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94671" y="249078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855988" y="2471738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37571" y="2490788"/>
            <a:ext cx="31300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Complexity Bias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4137571" y="2728913"/>
            <a:ext cx="31300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queries got artificial boosts even with weak evidence.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94671" y="298415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55988" y="296510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137571" y="2984153"/>
            <a:ext cx="44484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Ignored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4137571" y="3222278"/>
            <a:ext cx="4448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supporting chunks didn't improve confidence. Lost cross-doc validation signal.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94671" y="3596580"/>
            <a:ext cx="4968329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671" y="3715643"/>
            <a:ext cx="907256" cy="60960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921615" y="3810893"/>
            <a:ext cx="6533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921615" y="4096643"/>
            <a:ext cx="6533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54327" y="3715643"/>
            <a:ext cx="706041" cy="60960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983284" y="3810893"/>
            <a:ext cx="4481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983284" y="4096643"/>
            <a:ext cx="448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Trust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712768" y="3715643"/>
            <a:ext cx="1106835" cy="609600"/>
          </a:xfrm>
          <a:prstGeom prst="roundRect">
            <a:avLst>
              <a:gd name="adj" fmla="val 937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37716" y="3810893"/>
            <a:ext cx="8569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837716" y="4096643"/>
            <a:ext cx="856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Post-Gen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Approaches Explored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2543175" cy="3886200"/>
          </a:xfrm>
          <a:prstGeom prst="roundRect">
            <a:avLst>
              <a:gd name="adj" fmla="val 37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95350"/>
            <a:ext cx="2543175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51843" y="1028700"/>
            <a:ext cx="1158032" cy="323850"/>
          </a:xfrm>
          <a:prstGeom prst="roundRect">
            <a:avLst>
              <a:gd name="adj" fmla="val 11765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28043" y="1057275"/>
            <a:ext cx="1025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1589038"/>
            <a:ext cx="22831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533400" y="1990874"/>
            <a:ext cx="22831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Average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497485"/>
            <a:ext cx="2238375" cy="502741"/>
          </a:xfrm>
          <a:prstGeom prst="roundRect">
            <a:avLst>
              <a:gd name="adj" fmla="val 1136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2592735"/>
            <a:ext cx="2088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mean([0.6, 0.6, 0.6])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28650" y="2758380"/>
            <a:ext cx="2088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0.6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3400" y="3266926"/>
            <a:ext cx="2283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Simple, intuitive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33400" y="3604022"/>
            <a:ext cx="2283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Low chunks drag down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33400" y="3941118"/>
            <a:ext cx="2283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Too conservative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076575" y="876300"/>
            <a:ext cx="2543175" cy="3886200"/>
          </a:xfrm>
          <a:prstGeom prst="roundRect">
            <a:avLst>
              <a:gd name="adj" fmla="val 37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076575" y="895350"/>
            <a:ext cx="2543175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7418" y="1028700"/>
            <a:ext cx="1158032" cy="323850"/>
          </a:xfrm>
          <a:prstGeom prst="roundRect">
            <a:avLst>
              <a:gd name="adj" fmla="val 11765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23618" y="1057275"/>
            <a:ext cx="1025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28975" y="1589038"/>
            <a:ext cx="22831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228975" y="1990874"/>
            <a:ext cx="22831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Score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28975" y="2497485"/>
            <a:ext cx="2238375" cy="502741"/>
          </a:xfrm>
          <a:prstGeom prst="roundRect">
            <a:avLst>
              <a:gd name="adj" fmla="val 1136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24225" y="2592735"/>
            <a:ext cx="2088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max([0.6, 0.6, 0.6])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324225" y="2758380"/>
            <a:ext cx="2088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0.6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228975" y="3266926"/>
            <a:ext cx="2283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Fast, optimistic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228975" y="3604022"/>
            <a:ext cx="2283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Ignores evidence count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228975" y="3941118"/>
            <a:ext cx="22831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Con: 1 match = 10 matches</a:t>
            </a:r>
            <a:endParaRPr lang="en-US" sz="825" dirty="0"/>
          </a:p>
        </p:txBody>
      </p:sp>
      <p:pic>
        <p:nvPicPr>
          <p:cNvPr id="28" name="Image 0" descr="/tmp/rasterized-gradient-67cf37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2150" y="876300"/>
            <a:ext cx="2990850" cy="3886200"/>
          </a:xfrm>
          <a:prstGeom prst="rect">
            <a:avLst/>
          </a:prstGeom>
          <a:effectLst>
            <a:outerShdw sx="100000" sy="100000" kx="0" ky="0" algn="bl" rotWithShape="0" blurRad="190500" dist="50800" dir="16200000">
              <a:srgbClr val="22c55e">
                <a:alpha val="15000"/>
              </a:srgbClr>
            </a:outerShdw>
          </a:effectLst>
        </p:spPr>
      </p:pic>
      <p:sp>
        <p:nvSpPr>
          <p:cNvPr id="29" name="Text 26"/>
          <p:cNvSpPr/>
          <p:nvPr/>
        </p:nvSpPr>
        <p:spPr>
          <a:xfrm>
            <a:off x="7490520" y="1028700"/>
            <a:ext cx="1158180" cy="323850"/>
          </a:xfrm>
          <a:prstGeom prst="roundRect">
            <a:avLst>
              <a:gd name="adj" fmla="val 11765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566720" y="1057275"/>
            <a:ext cx="10258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924550" y="1400621"/>
            <a:ext cx="27397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</a:t>
            </a:r>
            <a:endParaRPr lang="en-US" sz="975" dirty="0"/>
          </a:p>
        </p:txBody>
      </p:sp>
      <p:sp>
        <p:nvSpPr>
          <p:cNvPr id="32" name="Text 29"/>
          <p:cNvSpPr/>
          <p:nvPr/>
        </p:nvSpPr>
        <p:spPr>
          <a:xfrm>
            <a:off x="5924550" y="1802457"/>
            <a:ext cx="27397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Noisy OR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5924550" y="2309068"/>
            <a:ext cx="2686050" cy="733127"/>
          </a:xfrm>
          <a:prstGeom prst="roundRect">
            <a:avLst>
              <a:gd name="adj" fmla="val 779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019800" y="2404318"/>
            <a:ext cx="25454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1 - Product(1 - pi)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6019800" y="2589014"/>
            <a:ext cx="25454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1-(0.4 x 0.4 x 0.4)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6019800" y="2773710"/>
            <a:ext cx="25454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0.936</a:t>
            </a:r>
            <a:endParaRPr lang="en-US" sz="975" dirty="0"/>
          </a:p>
        </p:txBody>
      </p:sp>
      <p:sp>
        <p:nvSpPr>
          <p:cNvPr id="37" name="Text 34"/>
          <p:cNvSpPr/>
          <p:nvPr/>
        </p:nvSpPr>
        <p:spPr>
          <a:xfrm>
            <a:off x="5924550" y="3308896"/>
            <a:ext cx="2739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Probabilistic, principled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5924550" y="3645991"/>
            <a:ext cx="2739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Rewards multiple evidence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5924550" y="3983087"/>
            <a:ext cx="2739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IR literature since 1980s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5924550" y="4320183"/>
            <a:ext cx="2739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Slightly more compute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28600"/>
            <a:ext cx="5197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New: 5-Component Confidence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838200"/>
            <a:ext cx="2009775" cy="723751"/>
          </a:xfrm>
          <a:prstGeom prst="roundRect">
            <a:avLst>
              <a:gd name="adj" fmla="val 105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838200"/>
            <a:ext cx="0" cy="72375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952500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Noisy OR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33400" y="1156246"/>
            <a:ext cx="177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1 - Prod(1-pi)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3400" y="1327696"/>
            <a:ext cx="17779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chunk scores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505075" y="838200"/>
            <a:ext cx="2009775" cy="723751"/>
          </a:xfrm>
          <a:prstGeom prst="roundRect">
            <a:avLst>
              <a:gd name="adj" fmla="val 105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24125" y="838200"/>
            <a:ext cx="0" cy="72375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7475" y="952500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Multi-Factor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657475" y="1156246"/>
            <a:ext cx="177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+ Evidence x Mult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57475" y="1327696"/>
            <a:ext cx="17779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coverage boosts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629150" y="838200"/>
            <a:ext cx="2009775" cy="723751"/>
          </a:xfrm>
          <a:prstGeom prst="roundRect">
            <a:avLst>
              <a:gd name="adj" fmla="val 105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8200" y="838200"/>
            <a:ext cx="0" cy="72375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1550" y="952500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Quality Validator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81550" y="1156246"/>
            <a:ext cx="177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detection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81550" y="1327696"/>
            <a:ext cx="17779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URLs, versions, quotes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6753225" y="838200"/>
            <a:ext cx="2009775" cy="723751"/>
          </a:xfrm>
          <a:prstGeom prst="roundRect">
            <a:avLst>
              <a:gd name="adj" fmla="val 105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772275" y="838200"/>
            <a:ext cx="0" cy="723751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5625" y="952500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Labels + Adjust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905625" y="1156246"/>
            <a:ext cx="177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0.85+ = Very High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05625" y="1327696"/>
            <a:ext cx="177793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Post-gen calibration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81000" y="2662238"/>
            <a:ext cx="2961977" cy="1266527"/>
          </a:xfrm>
          <a:prstGeom prst="roundRect">
            <a:avLst>
              <a:gd name="adj" fmla="val 601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4350" y="2795588"/>
            <a:ext cx="2749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Quality Validation Boosts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4350" y="3050828"/>
            <a:ext cx="739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URLs: +0.25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14350" y="3235523"/>
            <a:ext cx="739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Versions: +0.15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14350" y="3420219"/>
            <a:ext cx="739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Quotes: +0.15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430089" y="3050828"/>
            <a:ext cx="9179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blocks: +0.10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430089" y="3235523"/>
            <a:ext cx="9179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Dates: +0.10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430089" y="3420219"/>
            <a:ext cx="9179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lang: -0.15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14350" y="3662065"/>
            <a:ext cx="2749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Clamped: max +0.35, min -0.20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95377" y="2482304"/>
            <a:ext cx="2961977" cy="1626394"/>
          </a:xfrm>
          <a:prstGeom prst="roundRect">
            <a:avLst>
              <a:gd name="adj" fmla="val 46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28727" y="2615654"/>
            <a:ext cx="2749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Quality Multipliers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28727" y="2870895"/>
            <a:ext cx="2749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0.75+: multiply by 1.15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3628727" y="3074640"/>
            <a:ext cx="2749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0.65+: multiply by 1.10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3628727" y="3278386"/>
            <a:ext cx="2749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below 0.30: multiply by 0.90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3628727" y="3544044"/>
            <a:ext cx="2695277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28727" y="3644057"/>
            <a:ext cx="2749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boost: max +0.10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3628727" y="3828752"/>
            <a:ext cx="2749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applied if evidence at least 0.60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609755" y="2655689"/>
            <a:ext cx="2153394" cy="1279773"/>
          </a:xfrm>
          <a:prstGeom prst="roundRect">
            <a:avLst>
              <a:gd name="adj" fmla="val 59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743105" y="2789039"/>
            <a:ext cx="19244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Labels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43105" y="3044279"/>
            <a:ext cx="19244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High: 0.85+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6743105" y="3248025"/>
            <a:ext cx="19244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High: 0.70+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6743105" y="3451771"/>
            <a:ext cx="19244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Medium: 0.50+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743105" y="3655516"/>
            <a:ext cx="19244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Low: below 0.50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22eea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4765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 After: Real Examples</a:t>
            </a:r>
            <a:endParaRPr lang="en-US" sz="2400" dirty="0"/>
          </a:p>
        </p:txBody>
      </p:sp>
      <p:pic>
        <p:nvPicPr>
          <p:cNvPr id="4" name="Image 1" descr="/tmp/rasterized-gradient-72ee50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76623"/>
            <a:ext cx="2758976" cy="3771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9427" y="1171873"/>
            <a:ext cx="25421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81000" y="1549003"/>
            <a:ext cx="2758976" cy="940891"/>
          </a:xfrm>
          <a:prstGeom prst="roundRect">
            <a:avLst>
              <a:gd name="adj" fmla="val 80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395288" y="1549003"/>
            <a:ext cx="0" cy="940891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23875" y="1663303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MULTI-CHUNK DOCUMENT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23875" y="1853803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chunks: [0.68, 0.71, 0.65]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523875" y="2057549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max([...]) = </a:t>
            </a:r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523875" y="2242245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"High" (misleading)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381000" y="2585145"/>
            <a:ext cx="2758976" cy="940891"/>
          </a:xfrm>
          <a:prstGeom prst="roundRect">
            <a:avLst>
              <a:gd name="adj" fmla="val 80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395288" y="2585145"/>
            <a:ext cx="0" cy="940891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23875" y="2699445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ANSWER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23875" y="2889945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"Version 2.1.0 at docs.org"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523875" y="3093690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base_score = </a:t>
            </a:r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825" dirty="0"/>
          </a:p>
        </p:txBody>
      </p:sp>
      <p:sp>
        <p:nvSpPr>
          <p:cNvPr id="17" name="Text 13"/>
          <p:cNvSpPr/>
          <p:nvPr/>
        </p:nvSpPr>
        <p:spPr>
          <a:xfrm>
            <a:off x="523875" y="3278386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"Medium" (should be higher)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381000" y="3621286"/>
            <a:ext cx="2758976" cy="940891"/>
          </a:xfrm>
          <a:prstGeom prst="roundRect">
            <a:avLst>
              <a:gd name="adj" fmla="val 80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395288" y="3621286"/>
            <a:ext cx="0" cy="940891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3875" y="3735586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EVIDENCE QUERY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23875" y="3926086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 "Who?" Score: 0.35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23875" y="4129832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 + 0.15 = </a:t>
            </a:r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523875" y="4314527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"Medium" (false confidence)</a:t>
            </a:r>
            <a:endParaRPr lang="en-US" sz="750" dirty="0"/>
          </a:p>
        </p:txBody>
      </p:sp>
      <p:pic>
        <p:nvPicPr>
          <p:cNvPr id="24" name="Image 2" descr="/tmp/rasterized-gradient-c95027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476" y="1076623"/>
            <a:ext cx="2758976" cy="37713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438903" y="1171873"/>
            <a:ext cx="25421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AFTER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330476" y="1549003"/>
            <a:ext cx="2758976" cy="940891"/>
          </a:xfrm>
          <a:prstGeom prst="roundRect">
            <a:avLst>
              <a:gd name="adj" fmla="val 80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3344763" y="1549003"/>
            <a:ext cx="0" cy="94089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473351" y="1663303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MULTI-CHUNK DOCUMENT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3473351" y="1853803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1-(0.32×0.29×0.35)</a:t>
            </a:r>
            <a:endParaRPr lang="en-US" sz="825" dirty="0"/>
          </a:p>
        </p:txBody>
      </p:sp>
      <p:sp>
        <p:nvSpPr>
          <p:cNvPr id="30" name="Text 25"/>
          <p:cNvSpPr/>
          <p:nvPr/>
        </p:nvSpPr>
        <p:spPr>
          <a:xfrm>
            <a:off x="3473351" y="2057549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OR = </a:t>
            </a:r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825" dirty="0"/>
          </a:p>
        </p:txBody>
      </p:sp>
      <p:sp>
        <p:nvSpPr>
          <p:cNvPr id="31" name="Text 26"/>
          <p:cNvSpPr/>
          <p:nvPr/>
        </p:nvSpPr>
        <p:spPr>
          <a:xfrm>
            <a:off x="3473351" y="2242245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"Very High" ✓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330476" y="2585145"/>
            <a:ext cx="2758976" cy="940891"/>
          </a:xfrm>
          <a:prstGeom prst="roundRect">
            <a:avLst>
              <a:gd name="adj" fmla="val 80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8"/>
          <p:cNvSpPr/>
          <p:nvPr/>
        </p:nvSpPr>
        <p:spPr>
          <a:xfrm>
            <a:off x="3344763" y="2585145"/>
            <a:ext cx="0" cy="94089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473351" y="2699445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ANSWER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3473351" y="2889945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+0.15 (ver) +0.20 (URL)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3473351" y="3093690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 + boosts = </a:t>
            </a:r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3473351" y="3278386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"High" ✓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3330476" y="3621286"/>
            <a:ext cx="2758976" cy="940891"/>
          </a:xfrm>
          <a:prstGeom prst="roundRect">
            <a:avLst>
              <a:gd name="adj" fmla="val 80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4"/>
          <p:cNvSpPr/>
          <p:nvPr/>
        </p:nvSpPr>
        <p:spPr>
          <a:xfrm>
            <a:off x="3344763" y="3621286"/>
            <a:ext cx="0" cy="940891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3473351" y="3735586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EVIDENCE QUERY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3473351" y="3926086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halved (weak evidence)</a:t>
            </a:r>
            <a:endParaRPr lang="en-US" sz="825" dirty="0"/>
          </a:p>
        </p:txBody>
      </p:sp>
      <p:sp>
        <p:nvSpPr>
          <p:cNvPr id="42" name="Text 37"/>
          <p:cNvSpPr/>
          <p:nvPr/>
        </p:nvSpPr>
        <p:spPr>
          <a:xfrm>
            <a:off x="3473351" y="4129832"/>
            <a:ext cx="2551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 + 0.075 = </a:t>
            </a:r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</a:t>
            </a:r>
            <a:endParaRPr lang="en-US" sz="825" dirty="0"/>
          </a:p>
        </p:txBody>
      </p:sp>
      <p:sp>
        <p:nvSpPr>
          <p:cNvPr id="43" name="Text 38"/>
          <p:cNvSpPr/>
          <p:nvPr/>
        </p:nvSpPr>
        <p:spPr>
          <a:xfrm>
            <a:off x="3473351" y="4314527"/>
            <a:ext cx="2551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"Low" ✓ (honest)</a:t>
            </a:r>
            <a:endParaRPr lang="en-US" sz="750" dirty="0"/>
          </a:p>
        </p:txBody>
      </p:sp>
      <p:pic>
        <p:nvPicPr>
          <p:cNvPr id="44" name="Image 3" descr="/tmp/rasterized-gradient-d205693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952" y="755452"/>
            <a:ext cx="2483048" cy="37713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391138" y="850702"/>
            <a:ext cx="22606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RESULTS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6279952" y="1227832"/>
            <a:ext cx="2483048" cy="1030486"/>
          </a:xfrm>
          <a:prstGeom prst="roundRect">
            <a:avLst>
              <a:gd name="adj" fmla="val 73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391138" y="1361182"/>
            <a:ext cx="226067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0.78</a:t>
            </a:r>
            <a:endParaRPr lang="en-US" sz="2400" dirty="0"/>
          </a:p>
        </p:txBody>
      </p:sp>
      <p:sp>
        <p:nvSpPr>
          <p:cNvPr id="48" name="Text 42"/>
          <p:cNvSpPr/>
          <p:nvPr/>
        </p:nvSpPr>
        <p:spPr>
          <a:xfrm>
            <a:off x="6391138" y="1825972"/>
            <a:ext cx="2260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Conf-Correctness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6391138" y="1978372"/>
            <a:ext cx="22606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0.62 </a:t>
            </a:r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(+26%)</a:t>
            </a:r>
            <a:endParaRPr lang="en-US" sz="825" dirty="0"/>
          </a:p>
        </p:txBody>
      </p:sp>
      <p:sp>
        <p:nvSpPr>
          <p:cNvPr id="50" name="Text 44"/>
          <p:cNvSpPr/>
          <p:nvPr/>
        </p:nvSpPr>
        <p:spPr>
          <a:xfrm>
            <a:off x="6279952" y="2353568"/>
            <a:ext cx="2483048" cy="864840"/>
          </a:xfrm>
          <a:prstGeom prst="roundRect">
            <a:avLst>
              <a:gd name="adj" fmla="val 88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6391138" y="2486918"/>
            <a:ext cx="226067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+23%</a:t>
            </a:r>
            <a:endParaRPr lang="en-US" sz="2400" dirty="0"/>
          </a:p>
        </p:txBody>
      </p:sp>
      <p:sp>
        <p:nvSpPr>
          <p:cNvPr id="52" name="Text 46"/>
          <p:cNvSpPr/>
          <p:nvPr/>
        </p:nvSpPr>
        <p:spPr>
          <a:xfrm>
            <a:off x="6391138" y="2951708"/>
            <a:ext cx="2260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Trust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6279952" y="3313658"/>
            <a:ext cx="2483048" cy="864840"/>
          </a:xfrm>
          <a:prstGeom prst="roundRect">
            <a:avLst>
              <a:gd name="adj" fmla="val 88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8"/>
          <p:cNvSpPr/>
          <p:nvPr/>
        </p:nvSpPr>
        <p:spPr>
          <a:xfrm>
            <a:off x="6391138" y="3447008"/>
            <a:ext cx="226067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-34%</a:t>
            </a:r>
            <a:endParaRPr lang="en-US" sz="2400" dirty="0"/>
          </a:p>
        </p:txBody>
      </p:sp>
      <p:sp>
        <p:nvSpPr>
          <p:cNvPr id="55" name="Text 49"/>
          <p:cNvSpPr/>
          <p:nvPr/>
        </p:nvSpPr>
        <p:spPr>
          <a:xfrm>
            <a:off x="6391138" y="3911798"/>
            <a:ext cx="22606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750" dirty="0"/>
          </a:p>
        </p:txBody>
      </p:sp>
      <p:sp>
        <p:nvSpPr>
          <p:cNvPr id="56" name="Text 50"/>
          <p:cNvSpPr/>
          <p:nvPr/>
        </p:nvSpPr>
        <p:spPr>
          <a:xfrm>
            <a:off x="6279952" y="4273748"/>
            <a:ext cx="2483048" cy="6096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6352276" y="4368998"/>
            <a:ext cx="23383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3.3%</a:t>
            </a:r>
            <a:endParaRPr lang="en-US" sz="1500" dirty="0"/>
          </a:p>
        </p:txBody>
      </p:sp>
      <p:sp>
        <p:nvSpPr>
          <p:cNvPr id="58" name="Text 52"/>
          <p:cNvSpPr/>
          <p:nvPr/>
        </p:nvSpPr>
        <p:spPr>
          <a:xfrm>
            <a:off x="6352276" y="4654748"/>
            <a:ext cx="23383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overhead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and Website Updates</a:t>
            </a:r>
            <a:endParaRPr lang="en-US" sz="2400" dirty="0"/>
          </a:p>
        </p:txBody>
      </p:sp>
      <p:pic>
        <p:nvPicPr>
          <p:cNvPr id="4" name="Image 0" descr="/tmp/rasterized-gradient-cd1b14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43285"/>
            <a:ext cx="4095750" cy="377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4350" y="1138535"/>
            <a:ext cx="3905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(1 commit, 876 lines)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1000" y="1515666"/>
            <a:ext cx="4095750" cy="1119932"/>
          </a:xfrm>
          <a:prstGeom prst="roundRect">
            <a:avLst>
              <a:gd name="adj" fmla="val 68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1649016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Chip Component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14350" y="1917502"/>
            <a:ext cx="1016496" cy="342900"/>
          </a:xfrm>
          <a:prstGeom prst="roundRect">
            <a:avLst>
              <a:gd name="adj" fmla="val 3333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9600" y="1955602"/>
            <a:ext cx="8425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87996" y="1917502"/>
            <a:ext cx="582364" cy="342900"/>
          </a:xfrm>
          <a:prstGeom prst="roundRect">
            <a:avLst>
              <a:gd name="adj" fmla="val 33333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683246" y="1955602"/>
            <a:ext cx="3997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27511" y="1917502"/>
            <a:ext cx="868114" cy="34290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322761" y="1955602"/>
            <a:ext cx="6911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152775" y="1917502"/>
            <a:ext cx="540097" cy="34290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248025" y="1955602"/>
            <a:ext cx="356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14350" y="2355652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labels with exact scores and source count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2730847"/>
            <a:ext cx="4095750" cy="1087636"/>
          </a:xfrm>
          <a:prstGeom prst="roundRect">
            <a:avLst>
              <a:gd name="adj" fmla="val 70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14350" y="2864197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Repository Cards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514350" y="3132683"/>
            <a:ext cx="1885950" cy="24765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90550" y="3189833"/>
            <a:ext cx="17682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Meridian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457450" y="3132683"/>
            <a:ext cx="1885950" cy="24765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533650" y="3189833"/>
            <a:ext cx="17682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pkl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14350" y="3437483"/>
            <a:ext cx="1885950" cy="24765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90550" y="3494633"/>
            <a:ext cx="17682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Hollow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457450" y="3437483"/>
            <a:ext cx="1885950" cy="24765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533650" y="3494633"/>
            <a:ext cx="17682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Lisa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81000" y="3913733"/>
            <a:ext cx="4095750" cy="662732"/>
          </a:xfrm>
          <a:prstGeom prst="roundRect">
            <a:avLst>
              <a:gd name="adj" fmla="val 114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4350" y="4047083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Improvements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514350" y="429651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markdown, better source docs UI, new icon</a:t>
            </a:r>
            <a:endParaRPr lang="en-US" sz="825" dirty="0"/>
          </a:p>
        </p:txBody>
      </p:sp>
      <p:pic>
        <p:nvPicPr>
          <p:cNvPr id="30" name="Image 1" descr="/tmp/rasterized-gradient-1f8b91a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1076771"/>
            <a:ext cx="4095750" cy="37713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800600" y="1172021"/>
            <a:ext cx="39056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(10 commits, 400+ lines)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667250" y="1549152"/>
            <a:ext cx="4095750" cy="1051173"/>
          </a:xfrm>
          <a:prstGeom prst="roundRect">
            <a:avLst>
              <a:gd name="adj" fmla="val 7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800600" y="1682502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Visual Redesign</a:t>
            </a:r>
            <a:endParaRPr lang="en-US" sz="975" dirty="0"/>
          </a:p>
        </p:txBody>
      </p:sp>
      <p:sp>
        <p:nvSpPr>
          <p:cNvPr id="34" name="Text 30"/>
          <p:cNvSpPr/>
          <p:nvPr/>
        </p:nvSpPr>
        <p:spPr>
          <a:xfrm>
            <a:off x="4800600" y="1950988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layout</a:t>
            </a:r>
            <a:endParaRPr lang="en-US" sz="825" dirty="0"/>
          </a:p>
        </p:txBody>
      </p:sp>
      <p:sp>
        <p:nvSpPr>
          <p:cNvPr id="35" name="Text 31"/>
          <p:cNvSpPr/>
          <p:nvPr/>
        </p:nvSpPr>
        <p:spPr>
          <a:xfrm>
            <a:off x="4800600" y="2135684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4800600" y="2320379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navbar</a:t>
            </a:r>
            <a:endParaRPr lang="en-US" sz="825" dirty="0"/>
          </a:p>
        </p:txBody>
      </p:sp>
      <p:sp>
        <p:nvSpPr>
          <p:cNvPr id="37" name="Text 33"/>
          <p:cNvSpPr/>
          <p:nvPr/>
        </p:nvSpPr>
        <p:spPr>
          <a:xfrm>
            <a:off x="6772275" y="1950988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structure</a:t>
            </a:r>
            <a:endParaRPr lang="en-US" sz="825" dirty="0"/>
          </a:p>
        </p:txBody>
      </p:sp>
      <p:sp>
        <p:nvSpPr>
          <p:cNvPr id="38" name="Text 34"/>
          <p:cNvSpPr/>
          <p:nvPr/>
        </p:nvSpPr>
        <p:spPr>
          <a:xfrm>
            <a:off x="6772275" y="2135684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diagram</a:t>
            </a:r>
            <a:endParaRPr lang="en-US" sz="825" dirty="0"/>
          </a:p>
        </p:txBody>
      </p:sp>
      <p:sp>
        <p:nvSpPr>
          <p:cNvPr id="39" name="Text 35"/>
          <p:cNvSpPr/>
          <p:nvPr/>
        </p:nvSpPr>
        <p:spPr>
          <a:xfrm>
            <a:off x="6772275" y="2320379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fixes</a:t>
            </a:r>
            <a:endParaRPr lang="en-US" sz="825" dirty="0"/>
          </a:p>
        </p:txBody>
      </p:sp>
      <p:sp>
        <p:nvSpPr>
          <p:cNvPr id="40" name="Text 36"/>
          <p:cNvSpPr/>
          <p:nvPr/>
        </p:nvSpPr>
        <p:spPr>
          <a:xfrm>
            <a:off x="4667250" y="2695575"/>
            <a:ext cx="4095750" cy="1089273"/>
          </a:xfrm>
          <a:prstGeom prst="roundRect">
            <a:avLst>
              <a:gd name="adj" fmla="val 69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800600" y="2828925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Content Sections</a:t>
            </a:r>
            <a:endParaRPr lang="en-US" sz="975" dirty="0"/>
          </a:p>
        </p:txBody>
      </p:sp>
      <p:sp>
        <p:nvSpPr>
          <p:cNvPr id="42" name="Text 38"/>
          <p:cNvSpPr/>
          <p:nvPr/>
        </p:nvSpPr>
        <p:spPr>
          <a:xfrm>
            <a:off x="4800600" y="309741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Section - Academic attribution</a:t>
            </a:r>
            <a:endParaRPr lang="en-US" sz="825" dirty="0"/>
          </a:p>
        </p:txBody>
      </p:sp>
      <p:sp>
        <p:nvSpPr>
          <p:cNvPr id="43" name="Text 39"/>
          <p:cNvSpPr/>
          <p:nvPr/>
        </p:nvSpPr>
        <p:spPr>
          <a:xfrm>
            <a:off x="4800600" y="330115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Form - User engagement</a:t>
            </a:r>
            <a:endParaRPr lang="en-US" sz="825" dirty="0"/>
          </a:p>
        </p:txBody>
      </p:sp>
      <p:sp>
        <p:nvSpPr>
          <p:cNvPr id="44" name="Text 40"/>
          <p:cNvSpPr/>
          <p:nvPr/>
        </p:nvSpPr>
        <p:spPr>
          <a:xfrm>
            <a:off x="4800600" y="3504902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Request - Input collection</a:t>
            </a:r>
            <a:endParaRPr lang="en-US" sz="825" dirty="0"/>
          </a:p>
        </p:txBody>
      </p:sp>
      <p:sp>
        <p:nvSpPr>
          <p:cNvPr id="45" name="Text 41"/>
          <p:cNvSpPr/>
          <p:nvPr/>
        </p:nvSpPr>
        <p:spPr>
          <a:xfrm>
            <a:off x="4667250" y="3880098"/>
            <a:ext cx="4095750" cy="662732"/>
          </a:xfrm>
          <a:prstGeom prst="roundRect">
            <a:avLst>
              <a:gd name="adj" fmla="val 114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4800600" y="4013448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Assets</a:t>
            </a:r>
            <a:endParaRPr lang="en-US" sz="975" dirty="0"/>
          </a:p>
        </p:txBody>
      </p:sp>
      <p:sp>
        <p:nvSpPr>
          <p:cNvPr id="47" name="Text 43"/>
          <p:cNvSpPr/>
          <p:nvPr/>
        </p:nvSpPr>
        <p:spPr>
          <a:xfrm>
            <a:off x="4800600" y="426288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(280 KB), system overview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31718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Summary: Dec 1-5, 2025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1000" y="928985"/>
            <a:ext cx="4891980" cy="1493193"/>
          </a:xfrm>
          <a:prstGeom prst="roundRect">
            <a:avLst>
              <a:gd name="adj" fmla="val 51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33400" y="1081385"/>
            <a:ext cx="4678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Metrics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533400" y="1368921"/>
            <a:ext cx="467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1 commit, 3 files, 876 lines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33400" y="1586061"/>
            <a:ext cx="467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5 commits, 5 files, 401+ lines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33400" y="1803202"/>
            <a:ext cx="467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 10 commits, 4 files, 400+ lines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3400" y="2096542"/>
            <a:ext cx="4678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16 commits, 12 files, 1,677+ lines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81000" y="2555528"/>
            <a:ext cx="4891980" cy="1697087"/>
          </a:xfrm>
          <a:prstGeom prst="roundRect">
            <a:avLst>
              <a:gd name="adj" fmla="val 449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3400" y="2707928"/>
            <a:ext cx="4678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33400" y="2995464"/>
            <a:ext cx="467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Confidence System with Noisy OR aggregation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3400" y="3231654"/>
            <a:ext cx="467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Quality Validation for URLs, versions, quotes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33400" y="3467844"/>
            <a:ext cx="467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UI with color-coded confidence chips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3400" y="3704034"/>
            <a:ext cx="467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Intent Router with 50+ new query patterns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3400" y="3940225"/>
            <a:ext cx="467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Marketing Site with complete redesign</a:t>
            </a:r>
            <a:endParaRPr lang="en-US" sz="900" dirty="0"/>
          </a:p>
        </p:txBody>
      </p:sp>
      <p:pic>
        <p:nvPicPr>
          <p:cNvPr id="17" name="Image 1" descr="/tmp/rasterized-gradient-09e41eb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580" y="373707"/>
            <a:ext cx="3261420" cy="122098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24414" y="526107"/>
            <a:ext cx="3015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CORRELATION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5624414" y="710803"/>
            <a:ext cx="30157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0.78</a:t>
            </a:r>
            <a:endParaRPr lang="en-US" sz="3000" dirty="0"/>
          </a:p>
        </p:txBody>
      </p:sp>
      <p:sp>
        <p:nvSpPr>
          <p:cNvPr id="20" name="Text 16"/>
          <p:cNvSpPr/>
          <p:nvPr/>
        </p:nvSpPr>
        <p:spPr>
          <a:xfrm>
            <a:off x="5624414" y="1282303"/>
            <a:ext cx="301575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0.62 (+26%)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501580" y="1708993"/>
            <a:ext cx="3261420" cy="1022896"/>
          </a:xfrm>
          <a:prstGeom prst="roundRect">
            <a:avLst>
              <a:gd name="adj" fmla="val 74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624414" y="1861393"/>
            <a:ext cx="3015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TRUST</a:t>
            </a:r>
            <a:endParaRPr lang="en-US" sz="825" dirty="0"/>
          </a:p>
        </p:txBody>
      </p:sp>
      <p:sp>
        <p:nvSpPr>
          <p:cNvPr id="23" name="Text 19"/>
          <p:cNvSpPr/>
          <p:nvPr/>
        </p:nvSpPr>
        <p:spPr>
          <a:xfrm>
            <a:off x="5624414" y="2046089"/>
            <a:ext cx="30157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+23%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5501580" y="2846189"/>
            <a:ext cx="3261420" cy="1022896"/>
          </a:xfrm>
          <a:prstGeom prst="roundRect">
            <a:avLst>
              <a:gd name="adj" fmla="val 74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624414" y="2998589"/>
            <a:ext cx="3015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5624414" y="3183285"/>
            <a:ext cx="30157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-34%</a:t>
            </a:r>
            <a:endParaRPr lang="en-US" sz="3000" dirty="0"/>
          </a:p>
        </p:txBody>
      </p:sp>
      <p:sp>
        <p:nvSpPr>
          <p:cNvPr id="27" name="Text 23"/>
          <p:cNvSpPr/>
          <p:nvPr/>
        </p:nvSpPr>
        <p:spPr>
          <a:xfrm>
            <a:off x="5501580" y="3983385"/>
            <a:ext cx="3261420" cy="824657"/>
          </a:xfrm>
          <a:prstGeom prst="roundRect">
            <a:avLst>
              <a:gd name="adj" fmla="val 92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604983" y="4116735"/>
            <a:ext cx="3054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OVERHEAD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5604983" y="4301430"/>
            <a:ext cx="305461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3.3%</a:t>
            </a:r>
            <a:endParaRPr lang="en-US" sz="2100" dirty="0"/>
          </a:p>
        </p:txBody>
      </p:sp>
      <p:pic>
        <p:nvPicPr>
          <p:cNvPr id="30" name="Image 2" descr="/tmp/rasterized-gradient-c006db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d02e9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and Questions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81000" y="975717"/>
            <a:ext cx="4529733" cy="1965275"/>
          </a:xfrm>
          <a:prstGeom prst="roundRect">
            <a:avLst>
              <a:gd name="adj" fmla="val 48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52450" y="1147167"/>
            <a:ext cx="4270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Focus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52450" y="146714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4242" y="143857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7250" y="1467148"/>
            <a:ext cx="19781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Entailment Validation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857250" y="1678484"/>
            <a:ext cx="19781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answer matches retrieved evidence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1939379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4242" y="1910804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7250" y="1939379"/>
            <a:ext cx="169884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MSR 2026 Camera Ready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857250" y="2150715"/>
            <a:ext cx="16988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paper submission materials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52450" y="2411611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04242" y="238303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7250" y="2411611"/>
            <a:ext cx="18890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Integration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857250" y="2622947"/>
            <a:ext cx="18890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and incorporate user corrections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381000" y="3074343"/>
            <a:ext cx="4529733" cy="1455241"/>
          </a:xfrm>
          <a:prstGeom prst="roundRect">
            <a:avLst>
              <a:gd name="adj" fmla="val 65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2450" y="3245793"/>
            <a:ext cx="42705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2450" y="3546723"/>
            <a:ext cx="42705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entailment checking (answer-evidence match)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2450" y="3763863"/>
            <a:ext cx="42705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content patterns, not learned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2450" y="3981004"/>
            <a:ext cx="42705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confidence thresholds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2450" y="4198144"/>
            <a:ext cx="42705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 feedback loop (yet)</a:t>
            </a:r>
            <a:endParaRPr lang="en-US" sz="900" dirty="0"/>
          </a:p>
        </p:txBody>
      </p:sp>
      <p:pic>
        <p:nvPicPr>
          <p:cNvPr id="24" name="Image 1" descr="/tmp/rasterized-gradient-2c472b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603" y="1242268"/>
            <a:ext cx="2726978" cy="3020913"/>
          </a:xfrm>
          <a:prstGeom prst="rect">
            <a:avLst/>
          </a:prstGeom>
          <a:effectLst>
            <a:outerShdw sx="100000" sy="100000" kx="0" ky="0" algn="bl" rotWithShape="0" blurRad="285750" dist="50800" dir="16200000">
              <a:srgbClr val="3b82f6">
                <a:alpha val="15000"/>
              </a:srgbClr>
            </a:outerShdw>
          </a:effectLst>
        </p:spPr>
      </p:pic>
      <p:sp>
        <p:nvSpPr>
          <p:cNvPr id="25" name="Text 21"/>
          <p:cNvSpPr/>
          <p:nvPr/>
        </p:nvSpPr>
        <p:spPr>
          <a:xfrm>
            <a:off x="5871229" y="1547068"/>
            <a:ext cx="215972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5871229" y="2339429"/>
            <a:ext cx="215972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900"/>
              </a:spcAft>
              <a:buNone/>
            </a:pPr>
            <a:r>
              <a:rPr lang="en-US" sz="21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100" dirty="0"/>
          </a:p>
        </p:txBody>
      </p:sp>
      <p:pic>
        <p:nvPicPr>
          <p:cNvPr id="27" name="Image 2" descr="/tmp/rasterized-gradient-d3686a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268" y="2826990"/>
            <a:ext cx="571500" cy="2857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871229" y="3007965"/>
            <a:ext cx="21597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and Feedback Welcome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892403" y="3385096"/>
            <a:ext cx="2117378" cy="573286"/>
          </a:xfrm>
          <a:prstGeom prst="roundRect">
            <a:avLst>
              <a:gd name="adj" fmla="val 132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987815" y="3499396"/>
            <a:ext cx="19265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commit</a:t>
            </a:r>
            <a:endParaRPr lang="en-US" sz="825" dirty="0"/>
          </a:p>
        </p:txBody>
      </p:sp>
      <p:sp>
        <p:nvSpPr>
          <p:cNvPr id="31" name="Text 26"/>
          <p:cNvSpPr/>
          <p:nvPr/>
        </p:nvSpPr>
        <p:spPr>
          <a:xfrm>
            <a:off x="5987815" y="3684091"/>
            <a:ext cx="19265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3a74081</a:t>
            </a:r>
            <a:endParaRPr lang="en-US" sz="900" dirty="0"/>
          </a:p>
        </p:txBody>
      </p:sp>
      <p:pic>
        <p:nvPicPr>
          <p:cNvPr id="32" name="Image 3" descr="/tmp/rasterized-gradient-65251eb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5400"/>
            <a:ext cx="9144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RepoWise Weekly Update - Dec 1-5, 2025</dc:title>
  <dc:subject>Weekly Progress Update</dc:subject>
  <dc:creator>Sankalp Kashyap</dc:creator>
  <cp:lastModifiedBy>Sankalp Kashyap</cp:lastModifiedBy>
  <cp:revision>1</cp:revision>
  <dcterms:created xsi:type="dcterms:W3CDTF">2025-12-05T19:01:28Z</dcterms:created>
  <dcterms:modified xsi:type="dcterms:W3CDTF">2025-12-05T19:01:28Z</dcterms:modified>
</cp:coreProperties>
</file>